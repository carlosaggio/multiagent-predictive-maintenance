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of this deck:</a:t>
            </a:r>
          </a:p>
          <a:p>
            <a:r>
              <a:t>• Provide an ST Engineering-aligned story and talk track using the same interaction patterns seen in the Palantir demo.</a:t>
            </a:r>
          </a:p>
          <a:p>
            <a:r>
              <a:t>• Focus on two priority decision products: (1) C-check readiness and critical spares actions, (2) Component Services and MBH revenue assurance exceptions.</a:t>
            </a:r>
          </a:p>
          <a:p>
            <a:r>
              <a:t>• This is a storyboard. The pixel-level UI remains the source demo screen capture, with demo panels removed to maximise workspace.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Narrator:</a:t>
            </a:r>
          </a:p>
          <a:p>
            <a:r>
              <a:t>We will use two connected scenarios. Both use the same underlying software patterns: an ontology-backed operational cockpit, an alert queue, an investigation workspace, and action execution with approvals.</a:t>
            </a:r>
          </a:p>
          <a:p>
            <a:r>
              <a:t>The first scenario is site-level readiness for one hangar. This matches the Part 1 hypothesis.</a:t>
            </a:r>
          </a:p>
          <a:p>
            <a:r>
              <a:t>The second scenario shows how component services and MBH rules can move from Excel to governed logic with revenue assurance and faster decisions.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reference: original demo frame 0014</a:t>
            </a:r>
          </a:p>
          <a:p/>
          <a:p>
            <a:r>
              <a:t>Talk track:</a:t>
            </a:r>
          </a:p>
          <a:p>
            <a:r>
              <a:t>This is the operating model we are targeting. Data from SAP and shop-floor sources is unified into an ontology of aircraft events, parts, work orders, suppliers, and locations.</a:t>
            </a:r>
          </a:p>
          <a:p>
            <a:r>
              <a:t>Operators do not open 10 systems. They start from the decision and drill into the evidence. Actions write back to SAP with full audit.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reference: original demo frame 0020</a:t>
            </a:r>
          </a:p>
          <a:p/>
          <a:p>
            <a:r>
              <a:t>Talk track:</a:t>
            </a:r>
          </a:p>
          <a:p>
            <a:r>
              <a:t>We start in an ST Engineering MRO Operations Control Tower.</a:t>
            </a:r>
          </a:p>
          <a:p>
            <a:r>
              <a:t>The decision owner is the site operations lead and the material planner lead. Cadence is daily with intra-day exceptions.</a:t>
            </a:r>
          </a:p>
          <a:p>
            <a:r>
              <a:t>This view combines hangar slots, active checks, critical part readiness, and predicted delivery risk.</a:t>
            </a:r>
          </a:p>
          <a:p>
            <a:r>
              <a:t>Key KPIs: on-time induction, on-time redelivery, critical part availability at need date, and schedule adherence by hangar.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reference: original demo frame 0021</a:t>
            </a:r>
          </a:p>
          <a:p/>
          <a:p>
            <a:r>
              <a:t>Talk track:</a:t>
            </a:r>
          </a:p>
          <a:p>
            <a:r>
              <a:t>We start in an ST Engineering MRO Operations Control Tower.</a:t>
            </a:r>
          </a:p>
          <a:p>
            <a:r>
              <a:t>The decision owner is the site operations lead and the material planner lead. Cadence is daily with intra-day exceptions.</a:t>
            </a:r>
          </a:p>
          <a:p>
            <a:r>
              <a:t>This view combines hangar slots, active checks, critical part readiness, and predicted delivery risk.</a:t>
            </a:r>
          </a:p>
          <a:p>
            <a:r>
              <a:t>Key KPIs: on-time induction, on-time redelivery, critical part availability at need date, and schedule adherence by hangar.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reference: original demo frame 0032</a:t>
            </a:r>
          </a:p>
          <a:p/>
          <a:p>
            <a:r>
              <a:t>Talk track:</a:t>
            </a:r>
          </a:p>
          <a:p>
            <a:r>
              <a:t>An AIP agent summarises what changed since yesterday.</a:t>
            </a:r>
          </a:p>
          <a:p>
            <a:r>
              <a:t>Example: 'Two C-checks have red parts. One rotable shipment is late. One PO can be held because the aircraft delivery was pushed.'</a:t>
            </a:r>
          </a:p>
          <a:p>
            <a:r>
              <a:t>The agent points to the exact objects in the ontology. Users can click through to evidence and recommended actions.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reference: original demo frame 0052</a:t>
            </a:r>
          </a:p>
          <a:p/>
          <a:p>
            <a:r>
              <a:t>Talk track:</a:t>
            </a:r>
          </a:p>
          <a:p>
            <a:r>
              <a:t>This is the alert workbench for planners.</a:t>
            </a:r>
          </a:p>
          <a:p>
            <a:r>
              <a:t>Alerts are prioritised by operational impact: delay risk, cost, and safety-criticality.</a:t>
            </a:r>
          </a:p>
          <a:p>
            <a:r>
              <a:t>Example alert types for STE: 'Critical part shortfall for Work Package', 'Repairable TAT breach', 'Aircraft arrival slipped, PO hold candidate', 'Tooling or certification gap'.</a:t>
            </a:r>
          </a:p>
          <a:p>
            <a:r>
              <a:t>Planners triage, assign, and start an investigation with one click.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reference: original demo frame 0060</a:t>
            </a:r>
          </a:p>
          <a:p/>
          <a:p>
            <a:r>
              <a:t>Talk track:</a:t>
            </a:r>
          </a:p>
          <a:p>
            <a:r>
              <a:t>This is the alert workbench for planners.</a:t>
            </a:r>
          </a:p>
          <a:p>
            <a:r>
              <a:t>Alerts are prioritised by operational impact: delay risk, cost, and safety-criticality.</a:t>
            </a:r>
          </a:p>
          <a:p>
            <a:r>
              <a:t>Example alert types for STE: 'Critical part shortfall for Work Package', 'Repairable TAT breach', 'Aircraft arrival slipped, PO hold candidate', 'Tooling or certification gap'.</a:t>
            </a:r>
          </a:p>
          <a:p>
            <a:r>
              <a:t>Planners triage, assign, and start an investigation with one click.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reference: original demo frame 0065</a:t>
            </a:r>
          </a:p>
          <a:p/>
          <a:p>
            <a:r>
              <a:t>Talk track:</a:t>
            </a:r>
          </a:p>
          <a:p>
            <a:r>
              <a:t>This is the alert workbench for planners.</a:t>
            </a:r>
          </a:p>
          <a:p>
            <a:r>
              <a:t>Alerts are prioritised by operational impact: delay risk, cost, and safety-criticality.</a:t>
            </a:r>
          </a:p>
          <a:p>
            <a:r>
              <a:t>Example alert types for STE: 'Critical part shortfall for Work Package', 'Repairable TAT breach', 'Aircraft arrival slipped, PO hold candidate', 'Tooling or certification gap'.</a:t>
            </a:r>
          </a:p>
          <a:p>
            <a:r>
              <a:t>Planners triage, assign, and start an investigation with one click.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reference: original demo frame 0081</a:t>
            </a:r>
          </a:p>
          <a:p/>
          <a:p>
            <a:r>
              <a:t>Talk track:</a:t>
            </a:r>
          </a:p>
          <a:p>
            <a:r>
              <a:t>We open one alert: 'C-check for Tail 9V-XXX at Hangar 3 has a red part at Day-5'.</a:t>
            </a:r>
          </a:p>
          <a:p>
            <a:r>
              <a:t>The system explains the root cause using a causal graph across demand, inventory, repair orders, and inbound shipments.</a:t>
            </a:r>
          </a:p>
          <a:p>
            <a:r>
              <a:t>This is where heuristics and constrained optimisation can plug in for slot and material decisions.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reference: original demo frame 0091</a:t>
            </a:r>
          </a:p>
          <a:p/>
          <a:p>
            <a:r>
              <a:t>Talk track:</a:t>
            </a:r>
          </a:p>
          <a:p>
            <a:r>
              <a:t>We open one alert: 'C-check for Tail 9V-XXX at Hangar 3 has a red part at Day-5'.</a:t>
            </a:r>
          </a:p>
          <a:p>
            <a:r>
              <a:t>The system explains the root cause using a causal graph across demand, inventory, repair orders, and inbound shipments.</a:t>
            </a:r>
          </a:p>
          <a:p>
            <a:r>
              <a:t>This is where heuristics and constrained optimisation can plug in for slot and material decisions.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reference: original demo frame 0103</a:t>
            </a:r>
          </a:p>
          <a:p/>
          <a:p>
            <a:r>
              <a:t>Talk track:</a:t>
            </a:r>
          </a:p>
          <a:p>
            <a:r>
              <a:t>Now we simulate resolution options.</a:t>
            </a:r>
          </a:p>
          <a:p>
            <a:r>
              <a:t>Options might include: transfer a rotable from another pool, expedite a repair, swap with a non-critical event, approve an alternate part, or borrow from an airline.</a:t>
            </a:r>
          </a:p>
          <a:p>
            <a:r>
              <a:t>Each option shows impact on redelivery date, cost, and knock-on effects to other checks.</a:t>
            </a:r>
          </a:p>
          <a:p>
            <a:r>
              <a:t>The decision owner is clear. For example: material planner proposes, hangar ops approves, finance reviews expedite cost threshold.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reference: original demo frame 0109</a:t>
            </a:r>
          </a:p>
          <a:p/>
          <a:p>
            <a:r>
              <a:t>Talk track:</a:t>
            </a:r>
          </a:p>
          <a:p>
            <a:r>
              <a:t>Now we simulate resolution options.</a:t>
            </a:r>
          </a:p>
          <a:p>
            <a:r>
              <a:t>Options might include: transfer a rotable from another pool, expedite a repair, swap with a non-critical event, approve an alternate part, or borrow from an airline.</a:t>
            </a:r>
          </a:p>
          <a:p>
            <a:r>
              <a:t>Each option shows impact on redelivery date, cost, and knock-on effects to other checks.</a:t>
            </a:r>
          </a:p>
          <a:p>
            <a:r>
              <a:t>The decision owner is clear. For example: material planner proposes, hangar ops approves, finance reviews expedite cost threshold.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reference: original demo frame 0142</a:t>
            </a:r>
          </a:p>
          <a:p/>
          <a:p>
            <a:r>
              <a:t>Talk track:</a:t>
            </a:r>
          </a:p>
          <a:p>
            <a:r>
              <a:t>Now we simulate resolution options.</a:t>
            </a:r>
          </a:p>
          <a:p>
            <a:r>
              <a:t>Options might include: transfer a rotable from another pool, expedite a repair, swap with a non-critical event, approve an alternate part, or borrow from an airline.</a:t>
            </a:r>
          </a:p>
          <a:p>
            <a:r>
              <a:t>Each option shows impact on redelivery date, cost, and knock-on effects to other checks.</a:t>
            </a:r>
          </a:p>
          <a:p>
            <a:r>
              <a:t>The decision owner is clear. For example: material planner proposes, hangar ops approves, finance reviews expedite cost threshold.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reference: original demo frame 0151</a:t>
            </a:r>
          </a:p>
          <a:p/>
          <a:p>
            <a:r>
              <a:t>Talk track:</a:t>
            </a:r>
          </a:p>
          <a:p>
            <a:r>
              <a:t>Scenario 2 begins with component services and MBH revenue assurance.</a:t>
            </a:r>
          </a:p>
          <a:p>
            <a:r>
              <a:t>We show a contract-backed view of component pools, service events, and expected flying-hours driven demand.</a:t>
            </a:r>
          </a:p>
          <a:p>
            <a:r>
              <a:t>The goal is to move Excel-based rules into governed logic, and close gaps between flying hours, component consumption, and billing.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reference: original demo frame 0165</a:t>
            </a:r>
          </a:p>
          <a:p/>
          <a:p>
            <a:r>
              <a:t>Talk track:</a:t>
            </a:r>
          </a:p>
          <a:p>
            <a:r>
              <a:t>Here we demonstrate an end-to-end 'exception to action' flow for component pools.</a:t>
            </a:r>
          </a:p>
          <a:p>
            <a:r>
              <a:t>Example exception: a high-value rotable will go AOG at an outstation in 7 days unless we reposition stock.</a:t>
            </a:r>
          </a:p>
          <a:p>
            <a:r>
              <a:t>The action graph proposes transfers and repair prioritisation. AIP can propose the best action given constraints.</a:t>
            </a:r>
          </a:p>
          <a:p>
            <a:r>
              <a:t>When the action is chosen, the system generates the SAP transactions and tracks fulfilment.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reference: original demo frame 0169</a:t>
            </a:r>
          </a:p>
          <a:p/>
          <a:p>
            <a:r>
              <a:t>Talk track:</a:t>
            </a:r>
          </a:p>
          <a:p>
            <a:r>
              <a:t>Here we demonstrate an end-to-end 'exception to action' flow for component pools.</a:t>
            </a:r>
          </a:p>
          <a:p>
            <a:r>
              <a:t>Example exception: a high-value rotable will go AOG at an outstation in 7 days unless we reposition stock.</a:t>
            </a:r>
          </a:p>
          <a:p>
            <a:r>
              <a:t>The action graph proposes transfers and repair prioritisation. AIP can propose the best action given constraints.</a:t>
            </a:r>
          </a:p>
          <a:p>
            <a:r>
              <a:t>When the action is chosen, the system generates the SAP transactions and tracks fulfilment.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reference: original demo frame 0170</a:t>
            </a:r>
          </a:p>
          <a:p/>
          <a:p>
            <a:r>
              <a:t>Talk track:</a:t>
            </a:r>
          </a:p>
          <a:p>
            <a:r>
              <a:t>Here we demonstrate an end-to-end 'exception to action' flow for component pools.</a:t>
            </a:r>
          </a:p>
          <a:p>
            <a:r>
              <a:t>Example exception: a high-value rotable will go AOG at an outstation in 7 days unless we reposition stock.</a:t>
            </a:r>
          </a:p>
          <a:p>
            <a:r>
              <a:t>The action graph proposes transfers and repair prioritisation. AIP can propose the best action given constraints.</a:t>
            </a:r>
          </a:p>
          <a:p>
            <a:r>
              <a:t>When the action is chosen, the system generates the SAP transactions and tracks fulfilment.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reference: original demo frame 0181</a:t>
            </a:r>
          </a:p>
          <a:p/>
          <a:p>
            <a:r>
              <a:t>Talk track:</a:t>
            </a:r>
          </a:p>
          <a:p>
            <a:r>
              <a:t>We operationalise repeatable decisions with automation.</a:t>
            </a:r>
          </a:p>
          <a:p>
            <a:r>
              <a:t>Example: 'When aircraft delivery slips by &gt;48h, automatically recommend PO hold for parts not yet picked, and create an approval task.'</a:t>
            </a:r>
          </a:p>
          <a:p>
            <a:r>
              <a:t>Controls: approval thresholds, segregation of duties, and a full audit trail of why a recommendation was made and what was executed in SAP.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 reference: original demo frame 0186</a:t>
            </a:r>
          </a:p>
          <a:p/>
          <a:p>
            <a:r>
              <a:t>Talk track:</a:t>
            </a:r>
          </a:p>
          <a:p>
            <a:r>
              <a:t>We operationalise repeatable decisions with automation.</a:t>
            </a:r>
          </a:p>
          <a:p>
            <a:r>
              <a:t>Example: 'When aircraft delivery slips by &gt;48h, automatically recommend PO hold for parts not yet picked, and create an approval task.'</a:t>
            </a:r>
          </a:p>
          <a:p>
            <a:r>
              <a:t>Controls: approval thresholds, segregation of duties, and a full audit trail of why a recommendation was made and what was executed in SAP.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531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ST Engineering | Project Harmony | AI for Operations Demo Storyboard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Accenture | Palantir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Prototype storyboard based on Palantir supply chain demo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Re-framed for STE Civil Aviation MRO and Operations Research priorities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531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Demo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Accenture | Palantir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Scenario 1 | C-check readiness: critical spares and replanning (single site MVP)</a:t>
            </a:r>
          </a:p>
          <a:p>
            <a:pPr>
              <a:defRPr sz="2000" b="1"/>
            </a:pPr>
            <a:r>
              <a:t>Scenario 2 | Component Services + Maintenance-by-the-Hour: revenue assurance and component pool actions</a:t>
            </a:r>
          </a:p>
          <a:p>
            <a:pPr>
              <a:defRPr sz="1400"/>
            </a:pPr>
            <a:r>
              <a:t>Common capabilities reused: Ontology navigation, alert triage, explainable causal graph, what-if simulation, action write-back with approvals.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531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Scenario 1 | C-check readiness and critical spares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Accenture | Palantir</a:t>
            </a:r>
          </a:p>
        </p:txBody>
      </p:sp>
      <p:pic>
        <p:nvPicPr>
          <p:cNvPr id="5" name="Picture 4" descr="cropped_0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50292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531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Scenario 1 | C-check readiness and critical spares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Accenture | Palantir</a:t>
            </a:r>
          </a:p>
        </p:txBody>
      </p:sp>
      <p:pic>
        <p:nvPicPr>
          <p:cNvPr id="5" name="Picture 4" descr="cropped_0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50292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531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Scenario 1 | C-check readiness and critical spares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Accenture | Palantir</a:t>
            </a:r>
          </a:p>
        </p:txBody>
      </p:sp>
      <p:pic>
        <p:nvPicPr>
          <p:cNvPr id="5" name="Picture 4" descr="cropped_0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50292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531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Scenario 1 | C-check readiness and critical spares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Accenture | Palantir</a:t>
            </a:r>
          </a:p>
        </p:txBody>
      </p:sp>
      <p:pic>
        <p:nvPicPr>
          <p:cNvPr id="5" name="Picture 4" descr="cropped_0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50292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531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Scenario 1 | C-check readiness and critical spares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Accenture | Palantir</a:t>
            </a:r>
          </a:p>
        </p:txBody>
      </p:sp>
      <p:pic>
        <p:nvPicPr>
          <p:cNvPr id="5" name="Picture 4" descr="cropped_00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50292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531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Scenario 1 | C-check readiness and critical spares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Accenture | Palantir</a:t>
            </a:r>
          </a:p>
        </p:txBody>
      </p:sp>
      <p:pic>
        <p:nvPicPr>
          <p:cNvPr id="5" name="Picture 4" descr="cropped_00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50292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531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Scenario 1 | C-check readiness and critical spares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Accenture | Palantir</a:t>
            </a:r>
          </a:p>
        </p:txBody>
      </p:sp>
      <p:pic>
        <p:nvPicPr>
          <p:cNvPr id="5" name="Picture 4" descr="cropped_00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50292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531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Scenario 1 | C-check readiness and critical spares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Accenture | Palantir</a:t>
            </a:r>
          </a:p>
        </p:txBody>
      </p:sp>
      <p:pic>
        <p:nvPicPr>
          <p:cNvPr id="5" name="Picture 4" descr="cropped_00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50292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531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Scenario 1 | C-check readiness and critical spares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Accenture | Palantir</a:t>
            </a:r>
          </a:p>
        </p:txBody>
      </p:sp>
      <p:pic>
        <p:nvPicPr>
          <p:cNvPr id="5" name="Picture 4" descr="cropped_00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50292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531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Scenario 1 | C-check readiness and critical spares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Accenture | Palantir</a:t>
            </a:r>
          </a:p>
        </p:txBody>
      </p:sp>
      <p:pic>
        <p:nvPicPr>
          <p:cNvPr id="5" name="Picture 4" descr="cropped_0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50292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531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Scenario 1 | C-check readiness and critical spares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Accenture | Palantir</a:t>
            </a:r>
          </a:p>
        </p:txBody>
      </p:sp>
      <p:pic>
        <p:nvPicPr>
          <p:cNvPr id="5" name="Picture 4" descr="cropped_01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50292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531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Scenario 1 | C-check readiness and critical spares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Accenture | Palantir</a:t>
            </a:r>
          </a:p>
        </p:txBody>
      </p:sp>
      <p:pic>
        <p:nvPicPr>
          <p:cNvPr id="5" name="Picture 4" descr="cropped_01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50292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531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Scenario 2 | Component Services and MBH revenue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Accenture | Palantir</a:t>
            </a:r>
          </a:p>
        </p:txBody>
      </p:sp>
      <p:pic>
        <p:nvPicPr>
          <p:cNvPr id="5" name="Picture 4" descr="cropped_01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50292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531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Scenario 2 | Component Services and MBH revenue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Accenture | Palantir</a:t>
            </a:r>
          </a:p>
        </p:txBody>
      </p:sp>
      <p:pic>
        <p:nvPicPr>
          <p:cNvPr id="5" name="Picture 4" descr="cropped_01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50292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531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Scenario 2 | Component Services and MBH revenue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Accenture | Palantir</a:t>
            </a:r>
          </a:p>
        </p:txBody>
      </p:sp>
      <p:pic>
        <p:nvPicPr>
          <p:cNvPr id="5" name="Picture 4" descr="cropped_0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50292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531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Scenario 2 | Component Services and MBH revenue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Accenture | Palantir</a:t>
            </a:r>
          </a:p>
        </p:txBody>
      </p:sp>
      <p:pic>
        <p:nvPicPr>
          <p:cNvPr id="5" name="Picture 4" descr="cropped_01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50292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531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Scenario 2 | Component Services and MBH revenue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Accenture | Palantir</a:t>
            </a:r>
          </a:p>
        </p:txBody>
      </p:sp>
      <p:pic>
        <p:nvPicPr>
          <p:cNvPr id="5" name="Picture 4" descr="cropped_01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50292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531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99056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Scenario 2 | Component Services and MBH revenue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Accenture | Palantir</a:t>
            </a:r>
          </a:p>
        </p:txBody>
      </p:sp>
      <p:pic>
        <p:nvPicPr>
          <p:cNvPr id="5" name="Picture 4" descr="cropped_01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50292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